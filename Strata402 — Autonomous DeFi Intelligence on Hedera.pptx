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wav" ContentType="audio/wav"/>
  <Override PartName="/ppt/media/media2.wav" ContentType="audio/wav"/>
  <Override PartName="/ppt/media/media3.wav" ContentType="audio/wav"/>
  <Override PartName="/ppt/media/media4.wav" ContentType="audio/wav"/>
  <Override PartName="/ppt/media/media5.wav" ContentType="audio/wav"/>
  <Override PartName="/ppt/media/media6.wav" ContentType="audio/wav"/>
  <Override PartName="/ppt/media/media7.wav" ContentType="audio/wav"/>
  <Override PartName="/ppt/media/media8.wav" ContentType="audio/wav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microsoft.com/office/2007/relationships/media" Target="../media/media1.wav"/><Relationship Id="rId5" Type="http://schemas.openxmlformats.org/officeDocument/2006/relationships/video" Target="../media/media1.wav"/><Relationship Id="rId6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microsoft.com/office/2007/relationships/media" Target="../media/media2.wav"/><Relationship Id="rId5" Type="http://schemas.openxmlformats.org/officeDocument/2006/relationships/video" Target="../media/media2.wav"/><Relationship Id="rId6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microsoft.com/office/2007/relationships/media" Target="../media/media3.wav"/><Relationship Id="rId5" Type="http://schemas.openxmlformats.org/officeDocument/2006/relationships/video" Target="../media/media3.wav"/><Relationship Id="rId6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microsoft.com/office/2007/relationships/media" Target="../media/media4.wav"/><Relationship Id="rId5" Type="http://schemas.openxmlformats.org/officeDocument/2006/relationships/video" Target="../media/media4.wav"/><Relationship Id="rId6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microsoft.com/office/2007/relationships/media" Target="../media/media5.wav"/><Relationship Id="rId5" Type="http://schemas.openxmlformats.org/officeDocument/2006/relationships/video" Target="../media/media5.wav"/><Relationship Id="rId6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microsoft.com/office/2007/relationships/media" Target="../media/media6.wav"/><Relationship Id="rId5" Type="http://schemas.openxmlformats.org/officeDocument/2006/relationships/video" Target="../media/media6.wav"/><Relationship Id="rId6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microsoft.com/office/2007/relationships/media" Target="../media/media7.wav"/><Relationship Id="rId5" Type="http://schemas.openxmlformats.org/officeDocument/2006/relationships/video" Target="../media/media7.wav"/><Relationship Id="rId6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microsoft.com/office/2007/relationships/media" Target="../media/media8.wav"/><Relationship Id="rId5" Type="http://schemas.openxmlformats.org/officeDocument/2006/relationships/video" Target="../media/media8.wav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40973" y="300038"/>
            <a:ext cx="66012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2B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[ 0.0.402 ]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342900" y="1692678"/>
            <a:ext cx="845820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00E6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HEDERA TESTNET / x402 v2 / BLOCKY402</a:t>
            </a:r>
            <a:endParaRPr lang="en-US" sz="750" dirty="0"/>
          </a:p>
        </p:txBody>
      </p:sp>
      <p:sp>
        <p:nvSpPr>
          <p:cNvPr id="6" name="Text 2"/>
          <p:cNvSpPr/>
          <p:nvPr/>
        </p:nvSpPr>
        <p:spPr>
          <a:xfrm>
            <a:off x="342900" y="2028434"/>
            <a:ext cx="6429375" cy="553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3950" b="1" spc="-2" kern="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Strata402</a:t>
            </a:r>
            <a:endParaRPr lang="en-US" sz="3950" dirty="0"/>
          </a:p>
        </p:txBody>
      </p:sp>
      <p:sp>
        <p:nvSpPr>
          <p:cNvPr id="7" name="Text 3"/>
          <p:cNvSpPr/>
          <p:nvPr/>
        </p:nvSpPr>
        <p:spPr>
          <a:xfrm>
            <a:off x="342900" y="3039387"/>
            <a:ext cx="54292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Autonomous DeFi Intelligence</a:t>
            </a:r>
            <a:r>
              <a:rPr lang="en-US" sz="95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95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for Machine-to-Machine Payments on Hedera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342900" y="4672013"/>
            <a:ext cx="178309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DISCOVER · PAY · ANALYZE · AUDIT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8411040" y="4672013"/>
            <a:ext cx="39006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01 / 08</a:t>
            </a:r>
            <a:endParaRPr lang="en-US" sz="650" dirty="0"/>
          </a:p>
        </p:txBody>
      </p:sp>
      <p:pic>
        <p:nvPicPr>
          <p:cNvPr id="10" name="slide_1.wav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65760" y="365760"/>
            <a:ext cx="731520" cy="731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40973" y="300038"/>
            <a:ext cx="66012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2B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[ 0.0.402 ]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342900" y="342900"/>
            <a:ext cx="845820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00E6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01 / THE PROBLEM</a:t>
            </a:r>
            <a:endParaRPr lang="en-US" sz="750" dirty="0"/>
          </a:p>
        </p:txBody>
      </p:sp>
      <p:sp>
        <p:nvSpPr>
          <p:cNvPr id="6" name="Text 2"/>
          <p:cNvSpPr/>
          <p:nvPr/>
        </p:nvSpPr>
        <p:spPr>
          <a:xfrm>
            <a:off x="342900" y="607219"/>
            <a:ext cx="84582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agents need an economic interface.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342900" y="1410891"/>
            <a:ext cx="2705081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A2B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01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342900" y="1978819"/>
            <a:ext cx="2705081" cy="1971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Human-centric billing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42900" y="2290242"/>
            <a:ext cx="2705081" cy="564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cards, static API keys, OAuth tokens, and subscriptions were designed for people—not autonomous, per-request consumers.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219431" y="1410891"/>
            <a:ext cx="2705081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A2B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02</a:t>
            </a:r>
            <a:endParaRPr lang="en-US" sz="2250" dirty="0"/>
          </a:p>
        </p:txBody>
      </p:sp>
      <p:sp>
        <p:nvSpPr>
          <p:cNvPr id="11" name="Text 7"/>
          <p:cNvSpPr/>
          <p:nvPr/>
        </p:nvSpPr>
        <p:spPr>
          <a:xfrm>
            <a:off x="3219431" y="1978819"/>
            <a:ext cx="2705081" cy="1971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Micropayment friction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219431" y="2290242"/>
            <a:ext cx="2705081" cy="564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popups, gas complexity, and payment latency break machine-to-machine execution at the moment it matters.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095963" y="1410891"/>
            <a:ext cx="2705081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A2B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03</a:t>
            </a:r>
            <a:endParaRPr lang="en-US" sz="2250" dirty="0"/>
          </a:p>
        </p:txBody>
      </p:sp>
      <p:sp>
        <p:nvSpPr>
          <p:cNvPr id="14" name="Text 10"/>
          <p:cNvSpPr/>
          <p:nvPr/>
        </p:nvSpPr>
        <p:spPr>
          <a:xfrm>
            <a:off x="6095963" y="1978819"/>
            <a:ext cx="2705081" cy="1971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Opaque intelligence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095963" y="2290242"/>
            <a:ext cx="2705081" cy="564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scores, APYs, and yield claims are hard to trust when the underlying facts and audit trail are not visible.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42900" y="4672013"/>
            <a:ext cx="261896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00E6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THE GAP:</a:t>
            </a:r>
            <a:r>
              <a:rPr lang="en-US" sz="65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programmable payment + verifiable data</a:t>
            </a:r>
            <a:endParaRPr lang="en-US" sz="650" dirty="0"/>
          </a:p>
        </p:txBody>
      </p:sp>
      <p:sp>
        <p:nvSpPr>
          <p:cNvPr id="17" name="Text 13"/>
          <p:cNvSpPr/>
          <p:nvPr/>
        </p:nvSpPr>
        <p:spPr>
          <a:xfrm>
            <a:off x="8411040" y="4672013"/>
            <a:ext cx="39006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02 / 08</a:t>
            </a:r>
            <a:endParaRPr lang="en-US" sz="650" dirty="0"/>
          </a:p>
        </p:txBody>
      </p:sp>
      <p:pic>
        <p:nvPicPr>
          <p:cNvPr id="18" name="slide_2.wav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65760" y="365760"/>
            <a:ext cx="731520" cy="731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40973" y="300038"/>
            <a:ext cx="66012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2B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[ 0.0.402 ]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342900" y="342900"/>
            <a:ext cx="845820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00E6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02 / THE SOLUTION</a:t>
            </a:r>
            <a:endParaRPr lang="en-US" sz="750" dirty="0"/>
          </a:p>
        </p:txBody>
      </p:sp>
      <p:sp>
        <p:nvSpPr>
          <p:cNvPr id="6" name="Text 2"/>
          <p:cNvSpPr/>
          <p:nvPr/>
        </p:nvSpPr>
        <p:spPr>
          <a:xfrm>
            <a:off x="342900" y="607219"/>
            <a:ext cx="845820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HTTP-native path from intent to evidence.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342900" y="1135856"/>
            <a:ext cx="3552397" cy="707231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Strata402</a:t>
            </a: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turns a paid API request into a verifiable </a:t>
            </a: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action: exact HBAR settlement, live Hedera </a:t>
            </a: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facts, and an HCS audit record.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342900" y="2057400"/>
            <a:ext cx="3552397" cy="771525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800" dirty="0">
                <a:solidFill>
                  <a:srgbClr val="F5F5F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x402 v2</a:t>
            </a:r>
            <a:r>
              <a:rPr lang="en-US" sz="800" dirty="0">
                <a:solidFill>
                  <a:srgbClr val="F5F5F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800" dirty="0">
                <a:solidFill>
                  <a:srgbClr val="F5F5F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0.01 HBAR / call</a:t>
            </a:r>
            <a:r>
              <a:rPr lang="en-US" sz="800" dirty="0">
                <a:solidFill>
                  <a:srgbClr val="F5F5F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800" dirty="0">
                <a:solidFill>
                  <a:srgbClr val="F5F5F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hedera:testnet</a:t>
            </a:r>
            <a:r>
              <a:rPr lang="en-US" sz="800" dirty="0">
                <a:solidFill>
                  <a:srgbClr val="F5F5F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800" dirty="0">
                <a:solidFill>
                  <a:srgbClr val="F5F5F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HCS topic 0.0.10483725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4402503" y="2030276"/>
            <a:ext cx="2209986" cy="737927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31091" y="2158864"/>
            <a:ext cx="195281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0E6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PAYMENT</a:t>
            </a:r>
            <a:endParaRPr lang="en-US" sz="600" dirty="0"/>
          </a:p>
        </p:txBody>
      </p:sp>
      <p:sp>
        <p:nvSpPr>
          <p:cNvPr id="11" name="Text 7"/>
          <p:cNvSpPr/>
          <p:nvPr/>
        </p:nvSpPr>
        <p:spPr>
          <a:xfrm>
            <a:off x="4531091" y="2333885"/>
            <a:ext cx="1952811" cy="29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402</a:t>
            </a: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PAYMENT-REQUIRED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712502" y="2030276"/>
            <a:ext cx="2209986" cy="737927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41089" y="2166007"/>
            <a:ext cx="195281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0E6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SETTLEMENT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6841089" y="2341029"/>
            <a:ext cx="1952811" cy="29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Blocky402</a:t>
            </a: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HBAR on Hedera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402503" y="2861072"/>
            <a:ext cx="2209986" cy="737927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31091" y="2989659"/>
            <a:ext cx="195281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0E6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FACTS</a:t>
            </a:r>
            <a:endParaRPr lang="en-US" sz="600" dirty="0"/>
          </a:p>
        </p:txBody>
      </p:sp>
      <p:sp>
        <p:nvSpPr>
          <p:cNvPr id="17" name="Text 13"/>
          <p:cNvSpPr/>
          <p:nvPr/>
        </p:nvSpPr>
        <p:spPr>
          <a:xfrm>
            <a:off x="4531091" y="3164681"/>
            <a:ext cx="1952811" cy="29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 Node</a:t>
            </a: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account state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712502" y="2861072"/>
            <a:ext cx="2209986" cy="737927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841089" y="2996803"/>
            <a:ext cx="195281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0E6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AUDIT</a:t>
            </a:r>
            <a:endParaRPr lang="en-US" sz="600" dirty="0"/>
          </a:p>
        </p:txBody>
      </p:sp>
      <p:sp>
        <p:nvSpPr>
          <p:cNvPr id="20" name="Text 16"/>
          <p:cNvSpPr/>
          <p:nvPr/>
        </p:nvSpPr>
        <p:spPr>
          <a:xfrm>
            <a:off x="6841089" y="3171825"/>
            <a:ext cx="1952811" cy="29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HCS</a:t>
            </a: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correlation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42900" y="4672013"/>
            <a:ext cx="228460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00E6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QUALIFICATION PATH:</a:t>
            </a:r>
            <a:r>
              <a:rPr lang="en-US" sz="65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live, paid, auditable</a:t>
            </a:r>
            <a:endParaRPr lang="en-US" sz="650" dirty="0"/>
          </a:p>
        </p:txBody>
      </p:sp>
      <p:sp>
        <p:nvSpPr>
          <p:cNvPr id="22" name="Text 18"/>
          <p:cNvSpPr/>
          <p:nvPr/>
        </p:nvSpPr>
        <p:spPr>
          <a:xfrm>
            <a:off x="8411040" y="4672013"/>
            <a:ext cx="39006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03 / 08</a:t>
            </a:r>
            <a:endParaRPr lang="en-US" sz="650" dirty="0"/>
          </a:p>
        </p:txBody>
      </p:sp>
      <p:pic>
        <p:nvPicPr>
          <p:cNvPr id="23" name="slide_3.wav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65760" y="365760"/>
            <a:ext cx="731520" cy="731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40973" y="300038"/>
            <a:ext cx="66012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2B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[ 0.0.402 ]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342900" y="342900"/>
            <a:ext cx="845820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00E6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03 / TECHNICAL FLOW</a:t>
            </a:r>
            <a:endParaRPr lang="en-US" sz="750" dirty="0"/>
          </a:p>
        </p:txBody>
      </p:sp>
      <p:sp>
        <p:nvSpPr>
          <p:cNvPr id="6" name="Text 2"/>
          <p:cNvSpPr/>
          <p:nvPr/>
        </p:nvSpPr>
        <p:spPr>
          <a:xfrm>
            <a:off x="342900" y="607219"/>
            <a:ext cx="845820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pays only after it verifies the challenge.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342900" y="1135856"/>
            <a:ext cx="1134461" cy="1582341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14338" y="1235869"/>
            <a:ext cx="97729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8A2B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01</a:t>
            </a:r>
            <a:endParaRPr lang="en-US" sz="600" dirty="0"/>
          </a:p>
        </p:txBody>
      </p:sp>
      <p:sp>
        <p:nvSpPr>
          <p:cNvPr id="9" name="Text 5"/>
          <p:cNvSpPr/>
          <p:nvPr/>
        </p:nvSpPr>
        <p:spPr>
          <a:xfrm>
            <a:off x="414338" y="1744359"/>
            <a:ext cx="977298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414338" y="2258206"/>
            <a:ext cx="977298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POST /v1/strategy/yield-risk</a:t>
            </a:r>
            <a:endParaRPr lang="en-US" sz="600" dirty="0"/>
          </a:p>
        </p:txBody>
      </p:sp>
      <p:sp>
        <p:nvSpPr>
          <p:cNvPr id="11" name="Text 7"/>
          <p:cNvSpPr/>
          <p:nvPr/>
        </p:nvSpPr>
        <p:spPr>
          <a:xfrm>
            <a:off x="1520223" y="1135856"/>
            <a:ext cx="991140" cy="15823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E6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→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568513" y="1135856"/>
            <a:ext cx="991140" cy="1582341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639950" y="1235869"/>
            <a:ext cx="84826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8A2B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02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2639950" y="1804355"/>
            <a:ext cx="84826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2639950" y="2378199"/>
            <a:ext cx="84826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HTTP 402</a:t>
            </a:r>
            <a:r>
              <a:rPr lang="en-US" sz="60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0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PAYMENT-REQUIRED</a:t>
            </a:r>
            <a:endParaRPr lang="en-US" sz="600" dirty="0"/>
          </a:p>
        </p:txBody>
      </p:sp>
      <p:sp>
        <p:nvSpPr>
          <p:cNvPr id="16" name="Text 12"/>
          <p:cNvSpPr/>
          <p:nvPr/>
        </p:nvSpPr>
        <p:spPr>
          <a:xfrm>
            <a:off x="3616802" y="1135856"/>
            <a:ext cx="991140" cy="15823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E6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→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665092" y="1135856"/>
            <a:ext cx="991140" cy="1582341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736529" y="1235869"/>
            <a:ext cx="84826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8A2B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03</a:t>
            </a:r>
            <a:endParaRPr lang="en-US" sz="600" dirty="0"/>
          </a:p>
        </p:txBody>
      </p:sp>
      <p:sp>
        <p:nvSpPr>
          <p:cNvPr id="19" name="Text 15"/>
          <p:cNvSpPr/>
          <p:nvPr/>
        </p:nvSpPr>
        <p:spPr>
          <a:xfrm>
            <a:off x="4736529" y="1740787"/>
            <a:ext cx="84826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+ sign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4736529" y="2251063"/>
            <a:ext cx="848265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network · asset · amount · recipient</a:t>
            </a:r>
            <a:endParaRPr lang="en-US" sz="600" dirty="0"/>
          </a:p>
        </p:txBody>
      </p:sp>
      <p:sp>
        <p:nvSpPr>
          <p:cNvPr id="21" name="Text 17"/>
          <p:cNvSpPr/>
          <p:nvPr/>
        </p:nvSpPr>
        <p:spPr>
          <a:xfrm>
            <a:off x="5713381" y="1135856"/>
            <a:ext cx="991140" cy="15751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E6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→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761671" y="1135856"/>
            <a:ext cx="991140" cy="1575197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833108" y="1235869"/>
            <a:ext cx="84826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8A2B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04</a:t>
            </a:r>
            <a:endParaRPr lang="en-US" sz="600" dirty="0"/>
          </a:p>
        </p:txBody>
      </p:sp>
      <p:sp>
        <p:nvSpPr>
          <p:cNvPr id="24" name="Text 20"/>
          <p:cNvSpPr/>
          <p:nvPr/>
        </p:nvSpPr>
        <p:spPr>
          <a:xfrm>
            <a:off x="6833108" y="1800783"/>
            <a:ext cx="84826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+ settle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6833108" y="2371055"/>
            <a:ext cx="84826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Blocky402 → 0.01 HBAR</a:t>
            </a:r>
            <a:endParaRPr lang="en-US" sz="600" dirty="0"/>
          </a:p>
        </p:txBody>
      </p:sp>
      <p:sp>
        <p:nvSpPr>
          <p:cNvPr id="26" name="Text 22"/>
          <p:cNvSpPr/>
          <p:nvPr/>
        </p:nvSpPr>
        <p:spPr>
          <a:xfrm>
            <a:off x="7809960" y="1135856"/>
            <a:ext cx="991140" cy="15751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E6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→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342900" y="2768203"/>
            <a:ext cx="1120173" cy="1589484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14338" y="2875359"/>
            <a:ext cx="97729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8A2B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05</a:t>
            </a:r>
            <a:endParaRPr lang="en-US" sz="600" dirty="0"/>
          </a:p>
        </p:txBody>
      </p:sp>
      <p:sp>
        <p:nvSpPr>
          <p:cNvPr id="29" name="Text 25"/>
          <p:cNvSpPr/>
          <p:nvPr/>
        </p:nvSpPr>
        <p:spPr>
          <a:xfrm>
            <a:off x="414338" y="3383849"/>
            <a:ext cx="977298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+ audit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414338" y="3897697"/>
            <a:ext cx="977298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Mirror Node facts</a:t>
            </a:r>
            <a:r>
              <a:rPr lang="en-US" sz="60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0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Hedera SUCCESS</a:t>
            </a:r>
            <a:r>
              <a:rPr lang="en-US" sz="60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0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HCS + HTTP 200</a:t>
            </a:r>
            <a:endParaRPr lang="en-US" sz="600" dirty="0"/>
          </a:p>
        </p:txBody>
      </p:sp>
      <p:sp>
        <p:nvSpPr>
          <p:cNvPr id="31" name="Shape 27"/>
          <p:cNvSpPr/>
          <p:nvPr/>
        </p:nvSpPr>
        <p:spPr>
          <a:xfrm>
            <a:off x="342900" y="4529138"/>
            <a:ext cx="8458200" cy="2714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2" name="Shape 28"/>
          <p:cNvSpPr/>
          <p:nvPr/>
        </p:nvSpPr>
        <p:spPr>
          <a:xfrm>
            <a:off x="342900" y="4529138"/>
            <a:ext cx="845820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3" name="Text 29"/>
          <p:cNvSpPr/>
          <p:nvPr/>
        </p:nvSpPr>
        <p:spPr>
          <a:xfrm>
            <a:off x="342900" y="4664869"/>
            <a:ext cx="2460352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E6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BOUNDARY:</a:t>
            </a:r>
            <a:r>
              <a:rPr lang="en-US" sz="75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settlement ≠ strategy execution</a:t>
            </a:r>
            <a:endParaRPr lang="en-US" sz="700" dirty="0"/>
          </a:p>
        </p:txBody>
      </p:sp>
      <p:sp>
        <p:nvSpPr>
          <p:cNvPr id="34" name="Text 30"/>
          <p:cNvSpPr/>
          <p:nvPr/>
        </p:nvSpPr>
        <p:spPr>
          <a:xfrm>
            <a:off x="8381014" y="4664869"/>
            <a:ext cx="4200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04 / 08</a:t>
            </a:r>
            <a:endParaRPr lang="en-US" sz="750" dirty="0"/>
          </a:p>
        </p:txBody>
      </p:sp>
      <p:pic>
        <p:nvPicPr>
          <p:cNvPr id="35" name="slide_4.wav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65760" y="365760"/>
            <a:ext cx="731520" cy="731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40973" y="300038"/>
            <a:ext cx="66012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2B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[ 0.0.402 ]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342900" y="342900"/>
            <a:ext cx="845820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00E6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05 / FRONTEND EXPERIENCE</a:t>
            </a:r>
            <a:endParaRPr lang="en-US" sz="750" dirty="0"/>
          </a:p>
        </p:txBody>
      </p:sp>
      <p:sp>
        <p:nvSpPr>
          <p:cNvPr id="6" name="Text 2"/>
          <p:cNvSpPr/>
          <p:nvPr/>
        </p:nvSpPr>
        <p:spPr>
          <a:xfrm>
            <a:off x="342900" y="607219"/>
            <a:ext cx="845820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request. Four layers of visible proof.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342900" y="1121569"/>
            <a:ext cx="4567424" cy="3393281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00063" y="1278731"/>
            <a:ext cx="4253099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STRATA402 / STUDIO / AI STRATEGY ASSISTANT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500063" y="1535906"/>
            <a:ext cx="994432" cy="260747"/>
          </a:xfrm>
          <a:prstGeom prst="rect">
            <a:avLst/>
          </a:prstGeom>
          <a:noFill/>
          <a:ln/>
        </p:spPr>
        <p:txBody>
          <a:bodyPr wrap="none" lIns="93599" tIns="76581" rIns="93599" bIns="76581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0E6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PAYMENT: SUCCESS</a:t>
            </a:r>
            <a:endParaRPr lang="en-US" sz="600" dirty="0"/>
          </a:p>
        </p:txBody>
      </p:sp>
      <p:sp>
        <p:nvSpPr>
          <p:cNvPr id="10" name="Text 6"/>
          <p:cNvSpPr/>
          <p:nvPr/>
        </p:nvSpPr>
        <p:spPr>
          <a:xfrm>
            <a:off x="1580220" y="1535906"/>
            <a:ext cx="1765957" cy="260747"/>
          </a:xfrm>
          <a:prstGeom prst="rect">
            <a:avLst/>
          </a:prstGeom>
          <a:noFill/>
          <a:ln/>
        </p:spPr>
        <p:txBody>
          <a:bodyPr wrap="square" lIns="93599" tIns="76581" rIns="93599" bIns="76581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7A7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EXECUTION: GATED · NOT EXECUTED</a:t>
            </a:r>
            <a:endParaRPr lang="en-US" sz="600" dirty="0"/>
          </a:p>
        </p:txBody>
      </p:sp>
      <p:sp>
        <p:nvSpPr>
          <p:cNvPr id="11" name="Text 7"/>
          <p:cNvSpPr/>
          <p:nvPr/>
        </p:nvSpPr>
        <p:spPr>
          <a:xfrm>
            <a:off x="500063" y="2032397"/>
            <a:ext cx="209083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ACCOUNT</a:t>
            </a:r>
            <a:endParaRPr lang="en-US" sz="550" dirty="0"/>
          </a:p>
        </p:txBody>
      </p:sp>
      <p:sp>
        <p:nvSpPr>
          <p:cNvPr id="12" name="Text 8"/>
          <p:cNvSpPr/>
          <p:nvPr/>
        </p:nvSpPr>
        <p:spPr>
          <a:xfrm>
            <a:off x="500063" y="2189559"/>
            <a:ext cx="78659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0.0.10329902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2662331" y="2032397"/>
            <a:ext cx="209083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LIVE BALANCE</a:t>
            </a:r>
            <a:endParaRPr lang="en-US" sz="550" dirty="0"/>
          </a:p>
        </p:txBody>
      </p:sp>
      <p:sp>
        <p:nvSpPr>
          <p:cNvPr id="14" name="Text 10"/>
          <p:cNvSpPr/>
          <p:nvPr/>
        </p:nvSpPr>
        <p:spPr>
          <a:xfrm>
            <a:off x="2662331" y="2189559"/>
            <a:ext cx="94353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996.2126 HBAR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0063" y="2589609"/>
            <a:ext cx="209083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DATA SOURCE</a:t>
            </a:r>
            <a:endParaRPr lang="en-US" sz="550" dirty="0"/>
          </a:p>
        </p:txBody>
      </p:sp>
      <p:sp>
        <p:nvSpPr>
          <p:cNvPr id="16" name="Text 12"/>
          <p:cNvSpPr/>
          <p:nvPr/>
        </p:nvSpPr>
        <p:spPr>
          <a:xfrm>
            <a:off x="500063" y="2746772"/>
            <a:ext cx="72871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 Node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662331" y="2589609"/>
            <a:ext cx="209083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APY / YIELD</a:t>
            </a:r>
            <a:endParaRPr lang="en-US" sz="550" dirty="0"/>
          </a:p>
        </p:txBody>
      </p:sp>
      <p:sp>
        <p:nvSpPr>
          <p:cNvPr id="18" name="Text 14"/>
          <p:cNvSpPr/>
          <p:nvPr/>
        </p:nvSpPr>
        <p:spPr>
          <a:xfrm>
            <a:off x="2662331" y="2746772"/>
            <a:ext cx="71471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Unavailable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00063" y="3168253"/>
            <a:ext cx="4253099" cy="45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50" dirty="0">
                <a:solidFill>
                  <a:srgbClr val="00E6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REQUEST ID ↔ HCS</a:t>
            </a:r>
            <a:r>
              <a:rPr lang="en-US" sz="650" dirty="0">
                <a:solidFill>
                  <a:srgbClr val="00E6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50" dirty="0">
                <a:solidFill>
                  <a:srgbClr val="00E6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d0fd0709-08bc-456f-861a-6f8ebc08fb89</a:t>
            </a:r>
            <a:r>
              <a:rPr lang="en-US" sz="650" dirty="0">
                <a:solidFill>
                  <a:srgbClr val="00E6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50" dirty="0">
                <a:solidFill>
                  <a:srgbClr val="00E6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STATUS: MATCHED</a:t>
            </a:r>
            <a:endParaRPr lang="en-US" sz="650" dirty="0"/>
          </a:p>
        </p:txBody>
      </p:sp>
      <p:sp>
        <p:nvSpPr>
          <p:cNvPr id="20" name="Text 16"/>
          <p:cNvSpPr/>
          <p:nvPr/>
        </p:nvSpPr>
        <p:spPr>
          <a:xfrm>
            <a:off x="5267511" y="1178719"/>
            <a:ext cx="376213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facts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5267511" y="1389459"/>
            <a:ext cx="376213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and activity data are read from Hedera Mirror Node.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5267511" y="1706631"/>
            <a:ext cx="376213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analysis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5267511" y="1917371"/>
            <a:ext cx="376213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facts are separated from derived metrics. Missing values stay unavailable.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267511" y="2394552"/>
            <a:ext cx="376213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guard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5267511" y="2605292"/>
            <a:ext cx="376213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settlement is successful; strategy execution remains gated and no funds move.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342900" y="4672013"/>
            <a:ext cx="183890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00E6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USER VIEW:</a:t>
            </a:r>
            <a:r>
              <a:rPr lang="en-US" sz="65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evidence, not promises</a:t>
            </a:r>
            <a:endParaRPr lang="en-US" sz="650" dirty="0"/>
          </a:p>
        </p:txBody>
      </p:sp>
      <p:sp>
        <p:nvSpPr>
          <p:cNvPr id="27" name="Text 23"/>
          <p:cNvSpPr/>
          <p:nvPr/>
        </p:nvSpPr>
        <p:spPr>
          <a:xfrm>
            <a:off x="8411040" y="4672013"/>
            <a:ext cx="39006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05 / 08</a:t>
            </a:r>
            <a:endParaRPr lang="en-US" sz="650" dirty="0"/>
          </a:p>
        </p:txBody>
      </p:sp>
      <p:pic>
        <p:nvPicPr>
          <p:cNvPr id="28" name="slide_5.wav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65760" y="365760"/>
            <a:ext cx="731520" cy="731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8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40973" y="300038"/>
            <a:ext cx="66012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2B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[ 0.0.402 ]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342900" y="342900"/>
            <a:ext cx="845820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00E6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05 / SYSTEM ARCHITECTURE</a:t>
            </a:r>
            <a:endParaRPr lang="en-US" sz="750" dirty="0"/>
          </a:p>
        </p:txBody>
      </p:sp>
      <p:sp>
        <p:nvSpPr>
          <p:cNvPr id="6" name="Text 2"/>
          <p:cNvSpPr/>
          <p:nvPr/>
        </p:nvSpPr>
        <p:spPr>
          <a:xfrm>
            <a:off x="342900" y="607219"/>
            <a:ext cx="845820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verifiable service, not a black-box demo.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342900" y="1107281"/>
            <a:ext cx="2752688" cy="1117327"/>
          </a:xfrm>
          <a:prstGeom prst="rect">
            <a:avLst/>
          </a:prstGeom>
          <a:solidFill>
            <a:srgbClr val="1E1E1E"/>
          </a:solidFill>
          <a:ln w="9144">
            <a:solidFill>
              <a:srgbClr val="00E6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71488" y="1235869"/>
            <a:ext cx="249551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0E6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USER SURFACE</a:t>
            </a:r>
            <a:endParaRPr lang="en-US" sz="600" dirty="0"/>
          </a:p>
        </p:txBody>
      </p:sp>
      <p:sp>
        <p:nvSpPr>
          <p:cNvPr id="9" name="Text 5"/>
          <p:cNvSpPr/>
          <p:nvPr/>
        </p:nvSpPr>
        <p:spPr>
          <a:xfrm>
            <a:off x="471488" y="1425178"/>
            <a:ext cx="249551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Strata402 Studio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71488" y="1657350"/>
            <a:ext cx="2495513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analysis UI, evidence cards, execution guard, HCS correlation.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3195600" y="1107281"/>
            <a:ext cx="2752744" cy="11173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8A2B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→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048356" y="1107281"/>
            <a:ext cx="2752744" cy="1117327"/>
          </a:xfrm>
          <a:prstGeom prst="rect">
            <a:avLst/>
          </a:prstGeom>
          <a:solidFill>
            <a:srgbClr val="1E1E1E"/>
          </a:solidFill>
          <a:ln w="9144">
            <a:solidFill>
              <a:srgbClr val="00E6F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176944" y="1235869"/>
            <a:ext cx="2495569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0E6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CONTROL PLANE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6176944" y="1425178"/>
            <a:ext cx="2495569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176944" y="1657350"/>
            <a:ext cx="2495569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 challenge, payment validation, analysis response, audit publication.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342900" y="2324621"/>
            <a:ext cx="2752688" cy="1117327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1488" y="2453208"/>
            <a:ext cx="249551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0E6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CONSUMER</a:t>
            </a:r>
            <a:endParaRPr lang="en-US" sz="600" dirty="0"/>
          </a:p>
        </p:txBody>
      </p:sp>
      <p:sp>
        <p:nvSpPr>
          <p:cNvPr id="18" name="Text 14"/>
          <p:cNvSpPr/>
          <p:nvPr/>
        </p:nvSpPr>
        <p:spPr>
          <a:xfrm>
            <a:off x="471488" y="2642518"/>
            <a:ext cx="249551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Consuming Agent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71488" y="2874690"/>
            <a:ext cx="2495513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Discovery, challenge validation, signing, retry, paid response.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3195600" y="2324621"/>
            <a:ext cx="2752744" cy="11173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8A2B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↘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048356" y="2324621"/>
            <a:ext cx="2752744" cy="1117327"/>
          </a:xfrm>
          <a:prstGeom prst="rect">
            <a:avLst/>
          </a:prstGeom>
          <a:solidFill>
            <a:srgbClr val="1E1E1E"/>
          </a:solidFill>
          <a:ln w="9144">
            <a:solidFill>
              <a:srgbClr val="8A2BE2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176944" y="2453208"/>
            <a:ext cx="2495569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8A2B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SETTLEMENT</a:t>
            </a:r>
            <a:endParaRPr lang="en-US" sz="600" dirty="0"/>
          </a:p>
        </p:txBody>
      </p:sp>
      <p:sp>
        <p:nvSpPr>
          <p:cNvPr id="23" name="Text 19"/>
          <p:cNvSpPr/>
          <p:nvPr/>
        </p:nvSpPr>
        <p:spPr>
          <a:xfrm>
            <a:off x="6176944" y="2642518"/>
            <a:ext cx="2495569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Blocky402 → Hedera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176944" y="2874690"/>
            <a:ext cx="2495569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and settle exact HBAR payment; expose SUCCESS transaction.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342900" y="3541961"/>
            <a:ext cx="2752688" cy="972889"/>
          </a:xfrm>
          <a:prstGeom prst="rect">
            <a:avLst/>
          </a:prstGeom>
          <a:solidFill>
            <a:srgbClr val="1E1E1E"/>
          </a:solidFill>
          <a:ln w="9144">
            <a:solidFill>
              <a:srgbClr val="8A2BE2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71488" y="3684836"/>
            <a:ext cx="249551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8A2B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OBSERVABILITY</a:t>
            </a:r>
            <a:endParaRPr lang="en-US" sz="600" dirty="0"/>
          </a:p>
        </p:txBody>
      </p:sp>
      <p:sp>
        <p:nvSpPr>
          <p:cNvPr id="27" name="Text 23"/>
          <p:cNvSpPr/>
          <p:nvPr/>
        </p:nvSpPr>
        <p:spPr>
          <a:xfrm>
            <a:off x="471488" y="3874145"/>
            <a:ext cx="249551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 Node + HCS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71488" y="4106317"/>
            <a:ext cx="2495513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account facts plus consensus-backed request metadata.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342900" y="4672013"/>
            <a:ext cx="2340359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00E6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DESIGN PRINCIPLE:</a:t>
            </a:r>
            <a:r>
              <a:rPr lang="en-US" sz="65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every claim has a source</a:t>
            </a:r>
            <a:endParaRPr lang="en-US" sz="650" dirty="0"/>
          </a:p>
        </p:txBody>
      </p:sp>
      <p:sp>
        <p:nvSpPr>
          <p:cNvPr id="30" name="Text 26"/>
          <p:cNvSpPr/>
          <p:nvPr/>
        </p:nvSpPr>
        <p:spPr>
          <a:xfrm>
            <a:off x="8411040" y="4672013"/>
            <a:ext cx="39006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06 / 08</a:t>
            </a:r>
            <a:endParaRPr lang="en-US" sz="650" dirty="0"/>
          </a:p>
        </p:txBody>
      </p:sp>
      <p:pic>
        <p:nvPicPr>
          <p:cNvPr id="31" name="slide_6.wav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65760" y="365760"/>
            <a:ext cx="731520" cy="731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1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40973" y="300038"/>
            <a:ext cx="66012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2B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[ 0.0.402 ]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342900" y="342900"/>
            <a:ext cx="845820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00E6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06 / ON-CHAIN EVIDENCE</a:t>
            </a:r>
            <a:endParaRPr lang="en-US" sz="750" dirty="0"/>
          </a:p>
        </p:txBody>
      </p:sp>
      <p:sp>
        <p:nvSpPr>
          <p:cNvPr id="6" name="Text 2"/>
          <p:cNvSpPr/>
          <p:nvPr/>
        </p:nvSpPr>
        <p:spPr>
          <a:xfrm>
            <a:off x="342900" y="607219"/>
            <a:ext cx="845820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qualification path is independently verifiable.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342900" y="1135856"/>
            <a:ext cx="2910018" cy="3378994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Shape 4"/>
          <p:cNvSpPr/>
          <p:nvPr/>
        </p:nvSpPr>
        <p:spPr>
          <a:xfrm>
            <a:off x="342900" y="1135856"/>
            <a:ext cx="2910018" cy="21431"/>
          </a:xfrm>
          <a:prstGeom prst="rect">
            <a:avLst/>
          </a:prstGeom>
          <a:solidFill>
            <a:srgbClr val="00E6F2"/>
          </a:solidFill>
          <a:ln/>
        </p:spPr>
      </p:sp>
      <p:sp>
        <p:nvSpPr>
          <p:cNvPr id="9" name="Shape 5"/>
          <p:cNvSpPr/>
          <p:nvPr/>
        </p:nvSpPr>
        <p:spPr>
          <a:xfrm>
            <a:off x="3245774" y="1135856"/>
            <a:ext cx="7144" cy="337899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Shape 6"/>
          <p:cNvSpPr/>
          <p:nvPr/>
        </p:nvSpPr>
        <p:spPr>
          <a:xfrm>
            <a:off x="342900" y="4507706"/>
            <a:ext cx="2910018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Shape 7"/>
          <p:cNvSpPr/>
          <p:nvPr/>
        </p:nvSpPr>
        <p:spPr>
          <a:xfrm>
            <a:off x="342900" y="1135856"/>
            <a:ext cx="7144" cy="337899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" name="Text 8"/>
          <p:cNvSpPr/>
          <p:nvPr/>
        </p:nvSpPr>
        <p:spPr>
          <a:xfrm>
            <a:off x="500063" y="1293019"/>
            <a:ext cx="259569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HEDERA PAYMENT</a:t>
            </a:r>
            <a:endParaRPr lang="en-US" sz="600" dirty="0"/>
          </a:p>
        </p:txBody>
      </p:sp>
      <p:sp>
        <p:nvSpPr>
          <p:cNvPr id="13" name="Text 9"/>
          <p:cNvSpPr/>
          <p:nvPr/>
        </p:nvSpPr>
        <p:spPr>
          <a:xfrm>
            <a:off x="500063" y="1539478"/>
            <a:ext cx="2595693" cy="2299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" dirty="0">
                <a:solidFill>
                  <a:srgbClr val="00E6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SUCCESS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00063" y="2005217"/>
            <a:ext cx="259569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Transaction</a:t>
            </a:r>
            <a:endParaRPr lang="en-US" sz="650" dirty="0"/>
          </a:p>
        </p:txBody>
      </p:sp>
      <p:sp>
        <p:nvSpPr>
          <p:cNvPr id="15" name="Text 11"/>
          <p:cNvSpPr/>
          <p:nvPr/>
        </p:nvSpPr>
        <p:spPr>
          <a:xfrm>
            <a:off x="500063" y="2169523"/>
            <a:ext cx="178309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5F5F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0.0.7162784-1789299896-582181958</a:t>
            </a:r>
            <a:endParaRPr lang="en-US" sz="650" dirty="0"/>
          </a:p>
        </p:txBody>
      </p:sp>
      <p:sp>
        <p:nvSpPr>
          <p:cNvPr id="16" name="Text 12"/>
          <p:cNvSpPr/>
          <p:nvPr/>
        </p:nvSpPr>
        <p:spPr>
          <a:xfrm>
            <a:off x="500063" y="2476705"/>
            <a:ext cx="259569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Amount</a:t>
            </a:r>
            <a:endParaRPr lang="en-US" sz="650" dirty="0"/>
          </a:p>
        </p:txBody>
      </p:sp>
      <p:sp>
        <p:nvSpPr>
          <p:cNvPr id="17" name="Text 13"/>
          <p:cNvSpPr/>
          <p:nvPr/>
        </p:nvSpPr>
        <p:spPr>
          <a:xfrm>
            <a:off x="500063" y="2641011"/>
            <a:ext cx="50151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5F5F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0.01 HBAR</a:t>
            </a:r>
            <a:endParaRPr lang="en-US" sz="650" dirty="0"/>
          </a:p>
        </p:txBody>
      </p:sp>
      <p:sp>
        <p:nvSpPr>
          <p:cNvPr id="18" name="Text 14"/>
          <p:cNvSpPr/>
          <p:nvPr/>
        </p:nvSpPr>
        <p:spPr>
          <a:xfrm>
            <a:off x="500063" y="2948192"/>
            <a:ext cx="259569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From → To</a:t>
            </a:r>
            <a:endParaRPr lang="en-US" sz="650" dirty="0"/>
          </a:p>
        </p:txBody>
      </p:sp>
      <p:sp>
        <p:nvSpPr>
          <p:cNvPr id="19" name="Text 15"/>
          <p:cNvSpPr/>
          <p:nvPr/>
        </p:nvSpPr>
        <p:spPr>
          <a:xfrm>
            <a:off x="500063" y="3112498"/>
            <a:ext cx="150448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5F5F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0.0.10329902 → 0.0.10464194</a:t>
            </a:r>
            <a:endParaRPr lang="en-US" sz="650" dirty="0"/>
          </a:p>
        </p:txBody>
      </p:sp>
      <p:sp>
        <p:nvSpPr>
          <p:cNvPr id="20" name="Shape 16"/>
          <p:cNvSpPr/>
          <p:nvPr/>
        </p:nvSpPr>
        <p:spPr>
          <a:xfrm>
            <a:off x="3381505" y="1135856"/>
            <a:ext cx="2645476" cy="3378994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1" name="Shape 17"/>
          <p:cNvSpPr/>
          <p:nvPr/>
        </p:nvSpPr>
        <p:spPr>
          <a:xfrm>
            <a:off x="3381505" y="1135856"/>
            <a:ext cx="2645476" cy="21431"/>
          </a:xfrm>
          <a:prstGeom prst="rect">
            <a:avLst/>
          </a:prstGeom>
          <a:solidFill>
            <a:srgbClr val="8A2BE2"/>
          </a:solidFill>
          <a:ln/>
        </p:spPr>
      </p:sp>
      <p:sp>
        <p:nvSpPr>
          <p:cNvPr id="22" name="Shape 18"/>
          <p:cNvSpPr/>
          <p:nvPr/>
        </p:nvSpPr>
        <p:spPr>
          <a:xfrm>
            <a:off x="6019837" y="1135856"/>
            <a:ext cx="7144" cy="337899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3" name="Shape 19"/>
          <p:cNvSpPr/>
          <p:nvPr/>
        </p:nvSpPr>
        <p:spPr>
          <a:xfrm>
            <a:off x="3381505" y="4507706"/>
            <a:ext cx="2645476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4" name="Shape 20"/>
          <p:cNvSpPr/>
          <p:nvPr/>
        </p:nvSpPr>
        <p:spPr>
          <a:xfrm>
            <a:off x="3381505" y="1135856"/>
            <a:ext cx="7144" cy="337899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5" name="Text 21"/>
          <p:cNvSpPr/>
          <p:nvPr/>
        </p:nvSpPr>
        <p:spPr>
          <a:xfrm>
            <a:off x="3538668" y="1293019"/>
            <a:ext cx="233115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HCS AUDIT</a:t>
            </a:r>
            <a:endParaRPr lang="en-US" sz="600" dirty="0"/>
          </a:p>
        </p:txBody>
      </p:sp>
      <p:sp>
        <p:nvSpPr>
          <p:cNvPr id="26" name="Text 22"/>
          <p:cNvSpPr/>
          <p:nvPr/>
        </p:nvSpPr>
        <p:spPr>
          <a:xfrm>
            <a:off x="3538668" y="1539478"/>
            <a:ext cx="2331151" cy="2299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" dirty="0">
                <a:solidFill>
                  <a:srgbClr val="D7A7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SEQ 52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3538668" y="2005217"/>
            <a:ext cx="233115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Topic</a:t>
            </a:r>
            <a:endParaRPr lang="en-US" sz="650" dirty="0"/>
          </a:p>
        </p:txBody>
      </p:sp>
      <p:sp>
        <p:nvSpPr>
          <p:cNvPr id="28" name="Text 24"/>
          <p:cNvSpPr/>
          <p:nvPr/>
        </p:nvSpPr>
        <p:spPr>
          <a:xfrm>
            <a:off x="3538668" y="2169523"/>
            <a:ext cx="66866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5F5F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0.0.10483725</a:t>
            </a:r>
            <a:endParaRPr lang="en-US" sz="650" dirty="0"/>
          </a:p>
        </p:txBody>
      </p:sp>
      <p:sp>
        <p:nvSpPr>
          <p:cNvPr id="29" name="Text 25"/>
          <p:cNvSpPr/>
          <p:nvPr/>
        </p:nvSpPr>
        <p:spPr>
          <a:xfrm>
            <a:off x="3538668" y="2476705"/>
            <a:ext cx="233115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Request ID</a:t>
            </a:r>
            <a:endParaRPr lang="en-US" sz="650" dirty="0"/>
          </a:p>
        </p:txBody>
      </p:sp>
      <p:sp>
        <p:nvSpPr>
          <p:cNvPr id="30" name="Text 26"/>
          <p:cNvSpPr/>
          <p:nvPr/>
        </p:nvSpPr>
        <p:spPr>
          <a:xfrm>
            <a:off x="3538668" y="2641011"/>
            <a:ext cx="200599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5F5F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d0fd0709-08bc-456f-861a-6f8ebc08fb89</a:t>
            </a:r>
            <a:endParaRPr lang="en-US" sz="650" dirty="0"/>
          </a:p>
        </p:txBody>
      </p:sp>
      <p:sp>
        <p:nvSpPr>
          <p:cNvPr id="31" name="Text 27"/>
          <p:cNvSpPr/>
          <p:nvPr/>
        </p:nvSpPr>
        <p:spPr>
          <a:xfrm>
            <a:off x="3538668" y="2948192"/>
            <a:ext cx="233115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Correlation</a:t>
            </a:r>
            <a:endParaRPr lang="en-US" sz="650" dirty="0"/>
          </a:p>
        </p:txBody>
      </p:sp>
      <p:sp>
        <p:nvSpPr>
          <p:cNvPr id="32" name="Text 28"/>
          <p:cNvSpPr/>
          <p:nvPr/>
        </p:nvSpPr>
        <p:spPr>
          <a:xfrm>
            <a:off x="3538668" y="3112498"/>
            <a:ext cx="39006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5F5F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Matched</a:t>
            </a:r>
            <a:endParaRPr lang="en-US" sz="650" dirty="0"/>
          </a:p>
        </p:txBody>
      </p:sp>
      <p:sp>
        <p:nvSpPr>
          <p:cNvPr id="33" name="Shape 29"/>
          <p:cNvSpPr/>
          <p:nvPr/>
        </p:nvSpPr>
        <p:spPr>
          <a:xfrm>
            <a:off x="6155568" y="1135856"/>
            <a:ext cx="2645532" cy="3378994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312731" y="1293019"/>
            <a:ext cx="2331207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EXECUTION BOUNDARY</a:t>
            </a:r>
            <a:endParaRPr lang="en-US" sz="600" dirty="0"/>
          </a:p>
        </p:txBody>
      </p:sp>
      <p:sp>
        <p:nvSpPr>
          <p:cNvPr id="35" name="Text 31"/>
          <p:cNvSpPr/>
          <p:nvPr/>
        </p:nvSpPr>
        <p:spPr>
          <a:xfrm>
            <a:off x="6312731" y="1539478"/>
            <a:ext cx="2331207" cy="2299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GATED</a:t>
            </a:r>
            <a:endParaRPr lang="en-US" sz="1500" dirty="0"/>
          </a:p>
        </p:txBody>
      </p:sp>
      <p:sp>
        <p:nvSpPr>
          <p:cNvPr id="36" name="Text 32"/>
          <p:cNvSpPr/>
          <p:nvPr/>
        </p:nvSpPr>
        <p:spPr>
          <a:xfrm>
            <a:off x="6312731" y="2005217"/>
            <a:ext cx="233120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Strategy execution</a:t>
            </a:r>
            <a:endParaRPr lang="en-US" sz="650" dirty="0"/>
          </a:p>
        </p:txBody>
      </p:sp>
      <p:sp>
        <p:nvSpPr>
          <p:cNvPr id="37" name="Text 33"/>
          <p:cNvSpPr/>
          <p:nvPr/>
        </p:nvSpPr>
        <p:spPr>
          <a:xfrm>
            <a:off x="6312731" y="2169523"/>
            <a:ext cx="66866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5F5F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Not executed</a:t>
            </a:r>
            <a:endParaRPr lang="en-US" sz="650" dirty="0"/>
          </a:p>
        </p:txBody>
      </p:sp>
      <p:sp>
        <p:nvSpPr>
          <p:cNvPr id="38" name="Text 34"/>
          <p:cNvSpPr/>
          <p:nvPr/>
        </p:nvSpPr>
        <p:spPr>
          <a:xfrm>
            <a:off x="6312731" y="2476705"/>
            <a:ext cx="233120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Funds moved</a:t>
            </a:r>
            <a:endParaRPr lang="en-US" sz="650" dirty="0"/>
          </a:p>
        </p:txBody>
      </p:sp>
      <p:sp>
        <p:nvSpPr>
          <p:cNvPr id="39" name="Text 35"/>
          <p:cNvSpPr/>
          <p:nvPr/>
        </p:nvSpPr>
        <p:spPr>
          <a:xfrm>
            <a:off x="6312731" y="2641011"/>
            <a:ext cx="22290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5F5F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None</a:t>
            </a:r>
            <a:endParaRPr lang="en-US" sz="650" dirty="0"/>
          </a:p>
        </p:txBody>
      </p:sp>
      <p:sp>
        <p:nvSpPr>
          <p:cNvPr id="40" name="Text 36"/>
          <p:cNvSpPr/>
          <p:nvPr/>
        </p:nvSpPr>
        <p:spPr>
          <a:xfrm>
            <a:off x="6312731" y="2948192"/>
            <a:ext cx="233120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Data policy</a:t>
            </a:r>
            <a:endParaRPr lang="en-US" sz="650" dirty="0"/>
          </a:p>
        </p:txBody>
      </p:sp>
      <p:sp>
        <p:nvSpPr>
          <p:cNvPr id="41" name="Text 37"/>
          <p:cNvSpPr/>
          <p:nvPr/>
        </p:nvSpPr>
        <p:spPr>
          <a:xfrm>
            <a:off x="6312731" y="3112498"/>
            <a:ext cx="19503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5F5F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Unavailable values stay unavailable</a:t>
            </a:r>
            <a:endParaRPr lang="en-US" sz="650" dirty="0"/>
          </a:p>
        </p:txBody>
      </p:sp>
      <p:sp>
        <p:nvSpPr>
          <p:cNvPr id="42" name="Text 38"/>
          <p:cNvSpPr/>
          <p:nvPr/>
        </p:nvSpPr>
        <p:spPr>
          <a:xfrm>
            <a:off x="342900" y="4672013"/>
            <a:ext cx="2340359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00E6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PUBLIC PROOF:</a:t>
            </a:r>
            <a:r>
              <a:rPr lang="en-US" sz="65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Mirror Node + HashScan + HCS</a:t>
            </a:r>
            <a:endParaRPr lang="en-US" sz="650" dirty="0"/>
          </a:p>
        </p:txBody>
      </p:sp>
      <p:sp>
        <p:nvSpPr>
          <p:cNvPr id="43" name="Text 39"/>
          <p:cNvSpPr/>
          <p:nvPr/>
        </p:nvSpPr>
        <p:spPr>
          <a:xfrm>
            <a:off x="8411040" y="4672013"/>
            <a:ext cx="39006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07 / 08</a:t>
            </a:r>
            <a:endParaRPr lang="en-US" sz="650" dirty="0"/>
          </a:p>
        </p:txBody>
      </p:sp>
      <p:pic>
        <p:nvPicPr>
          <p:cNvPr id="44" name="slide_7.wav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65760" y="365760"/>
            <a:ext cx="731520" cy="731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4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40973" y="300038"/>
            <a:ext cx="66012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2B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[ 0.0.402 ]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342900" y="883760"/>
            <a:ext cx="845820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00E6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07 / CLOSING STATEMENT</a:t>
            </a:r>
            <a:endParaRPr lang="en-US" sz="750" dirty="0"/>
          </a:p>
        </p:txBody>
      </p:sp>
      <p:sp>
        <p:nvSpPr>
          <p:cNvPr id="6" name="Text 2"/>
          <p:cNvSpPr/>
          <p:nvPr/>
        </p:nvSpPr>
        <p:spPr>
          <a:xfrm>
            <a:off x="342900" y="1205229"/>
            <a:ext cx="6072188" cy="174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3100" b="1" spc="-2" kern="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Discover.</a:t>
            </a:r>
            <a:r>
              <a:rPr lang="en-US" sz="3100" b="1" spc="-2" kern="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3100" b="1" spc="-2" kern="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Pay.</a:t>
            </a:r>
            <a:r>
              <a:rPr lang="en-US" sz="3100" b="1" spc="-2" kern="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3100" b="1" spc="-2" kern="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Analyze.</a:t>
            </a:r>
            <a:r>
              <a:rPr lang="en-US" sz="3100" b="1" spc="-2" kern="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3100" b="1" spc="-2" kern="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Audit.</a:t>
            </a:r>
            <a:endParaRPr lang="en-US" sz="3100" dirty="0"/>
          </a:p>
        </p:txBody>
      </p:sp>
      <p:sp>
        <p:nvSpPr>
          <p:cNvPr id="7" name="Text 3"/>
          <p:cNvSpPr/>
          <p:nvPr/>
        </p:nvSpPr>
        <p:spPr>
          <a:xfrm>
            <a:off x="342900" y="3411085"/>
            <a:ext cx="6072188" cy="455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Strata402 turns a standard HTTP request into a verifiable autonomous economic action on Hedera.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342900" y="4124009"/>
            <a:ext cx="90016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E6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PAYMENT</a:t>
            </a:r>
            <a:r>
              <a:rPr lang="en-US" sz="750" dirty="0">
                <a:solidFill>
                  <a:srgbClr val="F5F5F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SUCCESS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1485956" y="4124009"/>
            <a:ext cx="90016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E6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EXECUTION</a:t>
            </a:r>
            <a:r>
              <a:rPr lang="en-US" sz="750" dirty="0">
                <a:solidFill>
                  <a:srgbClr val="F5F5F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GATED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2629012" y="4124009"/>
            <a:ext cx="78017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E6F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AUDIT</a:t>
            </a:r>
            <a:r>
              <a:rPr lang="en-US" sz="750" dirty="0">
                <a:solidFill>
                  <a:srgbClr val="F5F5F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MATCHED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342900" y="4672013"/>
            <a:ext cx="245175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0.01 HBAR · BLOCKY402 · HEDERA TESTNET · HCS</a:t>
            </a:r>
            <a:endParaRPr lang="en-US" sz="650" dirty="0"/>
          </a:p>
        </p:txBody>
      </p:sp>
      <p:sp>
        <p:nvSpPr>
          <p:cNvPr id="12" name="Text 8"/>
          <p:cNvSpPr/>
          <p:nvPr/>
        </p:nvSpPr>
        <p:spPr>
          <a:xfrm>
            <a:off x="8411040" y="4672013"/>
            <a:ext cx="39006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A0A0A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08 / 08</a:t>
            </a:r>
            <a:endParaRPr lang="en-US" sz="650" dirty="0"/>
          </a:p>
        </p:txBody>
      </p:sp>
      <p:pic>
        <p:nvPicPr>
          <p:cNvPr id="13" name="slide_8.wav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65760" y="365760"/>
            <a:ext cx="731520" cy="731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2026-09-13T21:29:42Z</dcterms:created>
  <dcterms:modified xsi:type="dcterms:W3CDTF">2026-09-13T21:29:42Z</dcterms:modified>
</cp:coreProperties>
</file>